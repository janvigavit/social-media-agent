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90" r:id="rId2"/>
    <p:sldId id="291" r:id="rId3"/>
    <p:sldId id="292" r:id="rId4"/>
    <p:sldId id="293" r:id="rId5"/>
    <p:sldId id="294" r:id="rId6"/>
    <p:sldId id="295" r:id="rId7"/>
    <p:sldId id="296" r:id="rId8"/>
    <p:sldId id="299" r:id="rId9"/>
    <p:sldId id="301" r:id="rId10"/>
    <p:sldId id="302" r:id="rId11"/>
    <p:sldId id="304" r:id="rId12"/>
    <p:sldId id="306" r:id="rId13"/>
    <p:sldId id="312" r:id="rId14"/>
    <p:sldId id="307" r:id="rId15"/>
    <p:sldId id="308" r:id="rId16"/>
    <p:sldId id="311" r:id="rId17"/>
    <p:sldId id="310" r:id="rId18"/>
    <p:sldId id="30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21869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80111613"/>
              </p:ext>
            </p:extLst>
          </p:nvPr>
        </p:nvGraphicFramePr>
        <p:xfrm>
          <a:off x="1299257" y="2600315"/>
          <a:ext cx="9394989" cy="2404304"/>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079751">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24553">
                <a:tc>
                  <a:txBody>
                    <a:bodyPr/>
                    <a:lstStyle/>
                    <a:p>
                      <a:pPr marL="0" marR="0" lvl="0" indent="0" algn="l" rtl="0">
                        <a:spcBef>
                          <a:spcPts val="0"/>
                        </a:spcBef>
                        <a:spcAft>
                          <a:spcPts val="0"/>
                        </a:spcAft>
                        <a:buNone/>
                      </a:pPr>
                      <a:endParaRPr lang="en-IN" sz="1600" dirty="0"/>
                    </a:p>
                    <a:p>
                      <a:pPr marL="0" marR="0" lvl="0" indent="0" algn="l" rtl="0">
                        <a:spcBef>
                          <a:spcPts val="0"/>
                        </a:spcBef>
                        <a:spcAft>
                          <a:spcPts val="0"/>
                        </a:spcAft>
                        <a:buNone/>
                      </a:pPr>
                      <a:r>
                        <a:rPr lang="en-IN" sz="1600" dirty="0"/>
                        <a:t>Janvi Sanjaykumar Gavit</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Janvi.g1602@gmail.com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9764984760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Lifestyle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Social Media Agent </a:t>
            </a:r>
            <a:endParaRPr lang="en-IN" sz="2400" b="1" dirty="0"/>
          </a:p>
        </p:txBody>
      </p:sp>
      <p:pic>
        <p:nvPicPr>
          <p:cNvPr id="5" name="Picture 4">
            <a:extLst>
              <a:ext uri="{FF2B5EF4-FFF2-40B4-BE49-F238E27FC236}">
                <a16:creationId xmlns:a16="http://schemas.microsoft.com/office/drawing/2014/main" id="{C4D04223-9279-A4C3-17B5-241DD100E9AE}"/>
              </a:ext>
            </a:extLst>
          </p:cNvPr>
          <p:cNvPicPr>
            <a:picLocks noChangeAspect="1"/>
          </p:cNvPicPr>
          <p:nvPr/>
        </p:nvPicPr>
        <p:blipFill>
          <a:blip r:embed="rId3"/>
          <a:stretch>
            <a:fillRect/>
          </a:stretch>
        </p:blipFill>
        <p:spPr>
          <a:xfrm>
            <a:off x="4021395" y="3754160"/>
            <a:ext cx="1179870" cy="112950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016292"/>
            <a:ext cx="10607040" cy="5509200"/>
          </a:xfrm>
          <a:prstGeom prst="rect">
            <a:avLst/>
          </a:prstGeom>
          <a:noFill/>
        </p:spPr>
        <p:txBody>
          <a:bodyPr wrap="square" rtlCol="0">
            <a:spAutoFit/>
          </a:bodyPr>
          <a:lstStyle/>
          <a:p>
            <a:pPr fontAlgn="base"/>
            <a:r>
              <a:rPr lang="en-US" sz="1800" b="1" dirty="0"/>
              <a:t>Problem Statement : </a:t>
            </a:r>
            <a:r>
              <a:rPr lang="en-IN" sz="1800" dirty="0"/>
              <a:t>Social Media Agent</a:t>
            </a:r>
            <a:endParaRPr lang="en-US" sz="1800" dirty="0"/>
          </a:p>
          <a:p>
            <a:pPr fontAlgn="base"/>
            <a:endParaRPr lang="en-US" sz="1800" b="1" dirty="0"/>
          </a:p>
          <a:p>
            <a:pPr fontAlgn="base"/>
            <a:r>
              <a:rPr lang="en-US" sz="1800" b="1" dirty="0"/>
              <a:t>The Challenge</a:t>
            </a:r>
            <a:r>
              <a:rPr lang="en-US" sz="1800" dirty="0"/>
              <a:t> </a:t>
            </a:r>
          </a:p>
          <a:p>
            <a:pPr fontAlgn="base"/>
            <a:r>
              <a:rPr lang="en-US" sz="1800" dirty="0"/>
              <a:t>Managing social media across multiple platforms is challenging for brands, businesses, influencers, and organizations. Creating engaging content consistently, tracking audience sentiment, analyzing competitors, identifying trending topics, and responding to users in real time require significant effort and expertise. Existing tools are often fragmented, making it difficult to gain actionable insights and improve overall social media performance. </a:t>
            </a:r>
          </a:p>
          <a:p>
            <a:pPr fontAlgn="base"/>
            <a:endParaRPr lang="en-US" sz="1800" dirty="0"/>
          </a:p>
          <a:p>
            <a:pPr fontAlgn="base"/>
            <a:r>
              <a:rPr lang="en-US" sz="1800" b="1" dirty="0"/>
              <a:t>The Objective</a:t>
            </a:r>
            <a:r>
              <a:rPr lang="en-US" sz="1800" dirty="0"/>
              <a:t> </a:t>
            </a:r>
          </a:p>
          <a:p>
            <a:r>
              <a:rPr lang="en-IN" sz="1800" dirty="0"/>
              <a:t>Build an AI-powered </a:t>
            </a:r>
            <a:r>
              <a:rPr lang="en-IN" sz="1800" b="1" dirty="0"/>
              <a:t>Social Media Agent</a:t>
            </a:r>
            <a:r>
              <a:rPr lang="en-IN" sz="1800" dirty="0"/>
              <a:t> using IBM Bob and IBM Granite models that helps users create, </a:t>
            </a:r>
            <a:r>
              <a:rPr lang="en-IN" sz="1800" dirty="0" err="1"/>
              <a:t>analyze</a:t>
            </a:r>
            <a:r>
              <a:rPr lang="en-IN" sz="1800" dirty="0"/>
              <a:t>, and optimize social media content. The solution should:</a:t>
            </a:r>
          </a:p>
          <a:p>
            <a:pPr marL="285750" indent="-285750">
              <a:buFont typeface="Arial" panose="020B0604020202020204" pitchFamily="34" charset="0"/>
              <a:buChar char="•"/>
            </a:pPr>
            <a:r>
              <a:rPr lang="en-IN" sz="1800" dirty="0"/>
              <a:t>Generate platform-specific content for Instagram, LinkedIn, X, Facebook, and YouTube. </a:t>
            </a:r>
          </a:p>
          <a:p>
            <a:pPr marL="285750" indent="-285750">
              <a:buFont typeface="Arial" panose="020B0604020202020204" pitchFamily="34" charset="0"/>
              <a:buChar char="•"/>
            </a:pPr>
            <a:r>
              <a:rPr lang="en-IN" sz="1800" dirty="0"/>
              <a:t>Suggest relevant hashtags and trending topics. </a:t>
            </a:r>
          </a:p>
          <a:p>
            <a:pPr marL="285750" indent="-285750">
              <a:buFont typeface="Arial" panose="020B0604020202020204" pitchFamily="34" charset="0"/>
              <a:buChar char="•"/>
            </a:pPr>
            <a:r>
              <a:rPr lang="en-IN" sz="1800" dirty="0" err="1"/>
              <a:t>Analyze</a:t>
            </a:r>
            <a:r>
              <a:rPr lang="en-IN" sz="1800" dirty="0"/>
              <a:t> audience sentiment and engagement. </a:t>
            </a:r>
          </a:p>
          <a:p>
            <a:pPr marL="285750" indent="-285750">
              <a:buFont typeface="Arial" panose="020B0604020202020204" pitchFamily="34" charset="0"/>
              <a:buChar char="•"/>
            </a:pPr>
            <a:r>
              <a:rPr lang="en-IN" sz="1800" dirty="0"/>
              <a:t>Monitor competitor strategies and market trends. </a:t>
            </a:r>
          </a:p>
          <a:p>
            <a:pPr marL="285750" indent="-285750">
              <a:buFont typeface="Arial" panose="020B0604020202020204" pitchFamily="34" charset="0"/>
              <a:buChar char="•"/>
            </a:pPr>
            <a:r>
              <a:rPr lang="en-IN" sz="1800" dirty="0"/>
              <a:t>Recommend the best posting time and content improvements. </a:t>
            </a:r>
          </a:p>
          <a:p>
            <a:pPr marL="285750" indent="-285750">
              <a:buFont typeface="Arial" panose="020B0604020202020204" pitchFamily="34" charset="0"/>
              <a:buChar char="•"/>
            </a:pPr>
            <a:r>
              <a:rPr lang="en-IN" sz="1800" dirty="0"/>
              <a:t>Provide AI-powered marketing insights through a multi-agent system</a:t>
            </a:r>
            <a:r>
              <a:rPr lang="en-US" sz="1800" dirty="0"/>
              <a:t>. </a:t>
            </a:r>
          </a:p>
          <a:p>
            <a:pPr fontAlgn="base"/>
            <a:endParaRPr lang="en-US" sz="1200" dirty="0"/>
          </a:p>
          <a:p>
            <a:endParaRPr lang="en-IN" sz="12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493072"/>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765517"/>
            <a:ext cx="10607040" cy="6247864"/>
          </a:xfrm>
          <a:prstGeom prst="rect">
            <a:avLst/>
          </a:prstGeom>
          <a:noFill/>
        </p:spPr>
        <p:txBody>
          <a:bodyPr wrap="square" rtlCol="0">
            <a:spAutoFit/>
          </a:bodyPr>
          <a:lstStyle/>
          <a:p>
            <a:pPr fontAlgn="base"/>
            <a:endParaRPr lang="en-US" sz="1200" b="1" dirty="0"/>
          </a:p>
          <a:p>
            <a:r>
              <a:rPr lang="en-US" sz="1800" b="1" dirty="0"/>
              <a:t>Proposed Solution: AI-powered Social Media Agent</a:t>
            </a:r>
            <a:r>
              <a:rPr lang="en-US" sz="1800" dirty="0"/>
              <a:t> </a:t>
            </a:r>
          </a:p>
          <a:p>
            <a:endParaRPr lang="en-US" sz="1800" dirty="0"/>
          </a:p>
          <a:p>
            <a:r>
              <a:rPr lang="en-US" sz="1800" dirty="0"/>
              <a:t>The proposed solution is an </a:t>
            </a:r>
            <a:r>
              <a:rPr lang="en-US" sz="1800" b="1" dirty="0"/>
              <a:t>AI-powered Social Media Agent</a:t>
            </a:r>
            <a:r>
              <a:rPr lang="en-US" sz="1800" dirty="0"/>
              <a:t> developed using </a:t>
            </a:r>
            <a:r>
              <a:rPr lang="en-US" sz="1800" b="1" dirty="0"/>
              <a:t>IBM Bob</a:t>
            </a:r>
            <a:r>
              <a:rPr lang="en-US" sz="1800" dirty="0"/>
              <a:t>, </a:t>
            </a:r>
            <a:r>
              <a:rPr lang="en-US" sz="1800" b="1" dirty="0"/>
              <a:t>IBM Granite Models</a:t>
            </a:r>
            <a:r>
              <a:rPr lang="en-US" sz="1800" dirty="0"/>
              <a:t>, and the </a:t>
            </a:r>
            <a:r>
              <a:rPr lang="en-US" sz="1800" b="1" dirty="0" err="1"/>
              <a:t>Groq</a:t>
            </a:r>
            <a:r>
              <a:rPr lang="en-US" sz="1800" b="1" dirty="0"/>
              <a:t> API</a:t>
            </a:r>
            <a:r>
              <a:rPr lang="en-US" sz="1800" dirty="0"/>
              <a:t> to assist businesses, influencers, marketers, and content creators in managing their social media presence efficiently.</a:t>
            </a:r>
          </a:p>
          <a:p>
            <a:r>
              <a:rPr lang="en-US" sz="1800" dirty="0"/>
              <a:t>The system provides intelligent assistance for content creation, trend analysis, audience engagement, and marketing strategy. Users can simply enter their requirements through an interactive web interface, and the AI generates optimized social media content tailored to different platforms.</a:t>
            </a:r>
          </a:p>
          <a:p>
            <a:r>
              <a:rPr lang="en-US" sz="1800" dirty="0"/>
              <a:t>The system consists of four specialized agents:</a:t>
            </a:r>
          </a:p>
          <a:p>
            <a:pPr marL="285750" indent="-285750">
              <a:buFont typeface="Arial" panose="020B0604020202020204" pitchFamily="34" charset="0"/>
              <a:buChar char="•"/>
            </a:pPr>
            <a:r>
              <a:rPr lang="en-US" sz="1800" b="1" dirty="0"/>
              <a:t>Content Generation Agent</a:t>
            </a:r>
            <a:r>
              <a:rPr lang="en-US" sz="1800" dirty="0"/>
              <a:t> creates captions, posts, marketing copies, and promotional content. </a:t>
            </a:r>
          </a:p>
          <a:p>
            <a:pPr marL="285750" indent="-285750">
              <a:buFont typeface="Arial" panose="020B0604020202020204" pitchFamily="34" charset="0"/>
              <a:buChar char="•"/>
            </a:pPr>
            <a:r>
              <a:rPr lang="en-US" sz="1800" b="1" dirty="0"/>
              <a:t>Trend Analysis Agent</a:t>
            </a:r>
            <a:r>
              <a:rPr lang="en-US" sz="1800" dirty="0"/>
              <a:t> analyzes current trends, hashtags, and viral topics. </a:t>
            </a:r>
          </a:p>
          <a:p>
            <a:pPr marL="285750" indent="-285750">
              <a:buFont typeface="Arial" panose="020B0604020202020204" pitchFamily="34" charset="0"/>
              <a:buChar char="•"/>
            </a:pPr>
            <a:r>
              <a:rPr lang="en-US" sz="1800" b="1" dirty="0"/>
              <a:t>Sentiment Analysis Agent</a:t>
            </a:r>
            <a:r>
              <a:rPr lang="en-US" sz="1800" dirty="0"/>
              <a:t> evaluates audience sentiment to understand customer feedback and engagement. </a:t>
            </a:r>
          </a:p>
          <a:p>
            <a:pPr marL="285750" indent="-285750">
              <a:buFont typeface="Arial" panose="020B0604020202020204" pitchFamily="34" charset="0"/>
              <a:buChar char="•"/>
            </a:pPr>
            <a:r>
              <a:rPr lang="en-US" sz="1800" b="1" dirty="0"/>
              <a:t>Strategy Recommendation Agent</a:t>
            </a:r>
            <a:r>
              <a:rPr lang="en-US" sz="1800" dirty="0"/>
              <a:t> provides actionable recommendations to improve reach, engagement, and posting schedules. </a:t>
            </a:r>
          </a:p>
          <a:p>
            <a:r>
              <a:rPr lang="en-US" sz="1800" dirty="0"/>
              <a:t>The application features a clean HTML-based interface integrated with the </a:t>
            </a:r>
            <a:r>
              <a:rPr lang="en-US" sz="1800" b="1" dirty="0" err="1"/>
              <a:t>Groq</a:t>
            </a:r>
            <a:r>
              <a:rPr lang="en-US" sz="1800" b="1" dirty="0"/>
              <a:t> API</a:t>
            </a:r>
            <a:r>
              <a:rPr lang="en-US" sz="1800" dirty="0"/>
              <a:t> for fast AI responses. IBM Bob orchestrates the agent workflow, while IBM Granite models enhance reasoning, content generation, and intelligent decision-making.</a:t>
            </a:r>
          </a:p>
          <a:p>
            <a:r>
              <a:rPr lang="en-US" sz="1800" dirty="0"/>
              <a:t>Overall, the solution serves as an intelligent digital social media assistant that simplifies content creation, improves audience engagement, and helps users make data-driven marketing decisions.</a:t>
            </a:r>
          </a:p>
          <a:p>
            <a:pPr fontAlgn="base"/>
            <a:endParaRPr lang="en-US" sz="1200" dirty="0"/>
          </a:p>
          <a:p>
            <a:endParaRPr lang="en-IN" sz="12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18143"/>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847207"/>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 Used for designing and orchestrating the multi-agent workflow.</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Provides reasoning, intelligent content generation, summarization, and recommendation capabilities.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Provides a scalable and secure environment for deploying AI services.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Can be integrated to retrieve real-time social media trends and marketing insights.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err="1"/>
              <a:t>Groq</a:t>
            </a:r>
            <a:r>
              <a:rPr lang="en-US" sz="1800" b="1" dirty="0"/>
              <a:t> API</a:t>
            </a:r>
            <a:r>
              <a:rPr lang="en-US" sz="1800" dirty="0"/>
              <a:t> – Enables high-speed AI inference for real-time content generation and user interaction.</a:t>
            </a:r>
          </a:p>
          <a:p>
            <a:endParaRPr lang="en-US" sz="1800" dirty="0"/>
          </a:p>
          <a:p>
            <a:pPr marL="285750" indent="-285750">
              <a:buFont typeface="Arial" panose="020B0604020202020204" pitchFamily="34" charset="0"/>
              <a:buChar char="•"/>
            </a:pPr>
            <a:r>
              <a:rPr lang="en-US" sz="1800" b="1" dirty="0"/>
              <a:t>HTML, CSS &amp; JavaScript</a:t>
            </a:r>
            <a:r>
              <a:rPr lang="en-US" sz="1800" dirty="0"/>
              <a:t> – Used to build a responsive and interactive web interface.</a:t>
            </a:r>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764390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8A4C8D9-670F-0151-AB0F-BBE85D508E96}"/>
              </a:ext>
            </a:extLst>
          </p:cNvPr>
          <p:cNvPicPr>
            <a:picLocks noChangeAspect="1"/>
          </p:cNvPicPr>
          <p:nvPr/>
        </p:nvPicPr>
        <p:blipFill>
          <a:blip r:embed="rId3"/>
          <a:stretch>
            <a:fillRect/>
          </a:stretch>
        </p:blipFill>
        <p:spPr>
          <a:xfrm>
            <a:off x="2893218" y="1513107"/>
            <a:ext cx="8931730" cy="5021654"/>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mj-lt"/>
                <a:ea typeface="Times New Roman"/>
                <a:cs typeface="Times New Roman"/>
                <a:sym typeface="Times New Roman"/>
              </a:rPr>
              <a:t> </a:t>
            </a:r>
            <a:r>
              <a:rPr lang="en-US" sz="2800" b="1" i="0" u="none" strike="noStrike" cap="none" dirty="0">
                <a:solidFill>
                  <a:srgbClr val="051D3A"/>
                </a:solidFill>
                <a:latin typeface="+mj-lt"/>
                <a:ea typeface="Times New Roman"/>
                <a:cs typeface="Times New Roman"/>
                <a:sym typeface="Times New Roman"/>
              </a:rPr>
              <a:t>IBM Bob Screenshots:</a:t>
            </a:r>
            <a:endParaRPr sz="2400" b="1" dirty="0">
              <a:latin typeface="+mj-lt"/>
              <a:sym typeface="Times New Roman"/>
            </a:endParaRPr>
          </a:p>
        </p:txBody>
      </p:sp>
      <p:pic>
        <p:nvPicPr>
          <p:cNvPr id="8" name="Picture 7">
            <a:extLst>
              <a:ext uri="{FF2B5EF4-FFF2-40B4-BE49-F238E27FC236}">
                <a16:creationId xmlns:a16="http://schemas.microsoft.com/office/drawing/2014/main" id="{02A63A75-AF6B-0771-1BDE-A31A4C5D452F}"/>
              </a:ext>
            </a:extLst>
          </p:cNvPr>
          <p:cNvPicPr>
            <a:picLocks noChangeAspect="1"/>
          </p:cNvPicPr>
          <p:nvPr/>
        </p:nvPicPr>
        <p:blipFill>
          <a:blip r:embed="rId3"/>
          <a:stretch>
            <a:fillRect/>
          </a:stretch>
        </p:blipFill>
        <p:spPr>
          <a:xfrm>
            <a:off x="1012455" y="933652"/>
            <a:ext cx="10868128" cy="560110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482757"/>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437124"/>
            <a:ext cx="7406640" cy="4247317"/>
          </a:xfrm>
          <a:prstGeom prst="rect">
            <a:avLst/>
          </a:prstGeom>
          <a:noFill/>
        </p:spPr>
        <p:txBody>
          <a:bodyPr wrap="square" rtlCol="0">
            <a:spAutoFit/>
          </a:bodyPr>
          <a:lstStyle/>
          <a:p>
            <a:r>
              <a:rPr lang="en-US" sz="1800" dirty="0"/>
              <a:t>Agentic AI enables the Social Media Agent to operate as an intelligent assistant by coordinating multiple specialized AI agents. Instead of relying on a single chatbot, the system assigns different responsibilities to dedicated agents responsible for content creation, trend monitoring, sentiment analysis, and marketing strategy.</a:t>
            </a:r>
          </a:p>
          <a:p>
            <a:endParaRPr lang="en-US" sz="1800" dirty="0"/>
          </a:p>
          <a:p>
            <a:r>
              <a:rPr lang="en-US" sz="1800" dirty="0"/>
              <a:t>Each agent collaborates with others to deliver accurate, personalized, and context-aware responses. The AI understands user goals, platform requirements, and audience preferences before generating recommendations.</a:t>
            </a:r>
          </a:p>
          <a:p>
            <a:endParaRPr lang="en-US" sz="1800" dirty="0"/>
          </a:p>
          <a:p>
            <a:r>
              <a:rPr lang="en-US" sz="1800" dirty="0"/>
              <a:t>This multi-agent architecture improves response quality, enhances decision-making, and delivers actionable social media insights that help users grow their online presence effectively.</a:t>
            </a:r>
          </a:p>
          <a:p>
            <a:r>
              <a:rPr lang="en-US" sz="1800" dirty="0"/>
              <a:t>.</a:t>
            </a:r>
          </a:p>
        </p:txBody>
      </p:sp>
    </p:spTree>
    <p:extLst>
      <p:ext uri="{BB962C8B-B14F-4D97-AF65-F5344CB8AC3E}">
        <p14:creationId xmlns:p14="http://schemas.microsoft.com/office/powerpoint/2010/main" val="4000696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237F12A7-E7F3-6C55-989B-4D0A3C85869C}"/>
              </a:ext>
            </a:extLst>
          </p:cNvPr>
          <p:cNvPicPr>
            <a:picLocks noChangeAspect="1"/>
          </p:cNvPicPr>
          <p:nvPr/>
        </p:nvPicPr>
        <p:blipFill>
          <a:blip r:embed="rId3"/>
          <a:stretch>
            <a:fillRect/>
          </a:stretch>
        </p:blipFill>
        <p:spPr>
          <a:xfrm>
            <a:off x="951708" y="816977"/>
            <a:ext cx="10288584" cy="580656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D834BBF-1E05-B269-5F4C-D4EF468AA014}"/>
              </a:ext>
            </a:extLst>
          </p:cNvPr>
          <p:cNvPicPr>
            <a:picLocks noChangeAspect="1"/>
          </p:cNvPicPr>
          <p:nvPr/>
        </p:nvPicPr>
        <p:blipFill>
          <a:blip r:embed="rId3"/>
          <a:stretch>
            <a:fillRect/>
          </a:stretch>
        </p:blipFill>
        <p:spPr>
          <a:xfrm>
            <a:off x="804350" y="816977"/>
            <a:ext cx="10583299" cy="581206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95178" y="1705451"/>
            <a:ext cx="11004453" cy="3724096"/>
          </a:xfrm>
          <a:prstGeom prst="rect">
            <a:avLst/>
          </a:prstGeom>
          <a:noFill/>
        </p:spPr>
        <p:txBody>
          <a:bodyPr wrap="square" rtlCol="0">
            <a:spAutoFit/>
          </a:bodyPr>
          <a:lstStyle/>
          <a:p>
            <a:pPr marL="285750" indent="-285750">
              <a:buFont typeface="Arial" panose="020B0604020202020204" pitchFamily="34" charset="0"/>
              <a:buChar char="•"/>
            </a:pPr>
            <a:r>
              <a:rPr lang="en-IN" sz="2000" dirty="0"/>
              <a:t>Multi-Agent AI architecture instead of a traditional chatbot. </a:t>
            </a:r>
          </a:p>
          <a:p>
            <a:pPr marL="285750" indent="-285750">
              <a:buFont typeface="Arial" panose="020B0604020202020204" pitchFamily="34" charset="0"/>
              <a:buChar char="•"/>
            </a:pPr>
            <a:r>
              <a:rPr lang="en-IN" sz="2000" dirty="0"/>
              <a:t>AI-powered content generation for multiple social media platforms. </a:t>
            </a:r>
          </a:p>
          <a:p>
            <a:pPr marL="285750" indent="-285750">
              <a:buFont typeface="Arial" panose="020B0604020202020204" pitchFamily="34" charset="0"/>
              <a:buChar char="•"/>
            </a:pPr>
            <a:r>
              <a:rPr lang="en-IN" sz="2000" dirty="0"/>
              <a:t>Intelligent trend and hashtag recommendations. </a:t>
            </a:r>
          </a:p>
          <a:p>
            <a:pPr marL="285750" indent="-285750">
              <a:buFont typeface="Arial" panose="020B0604020202020204" pitchFamily="34" charset="0"/>
              <a:buChar char="•"/>
            </a:pPr>
            <a:r>
              <a:rPr lang="en-IN" sz="2000" dirty="0"/>
              <a:t>Audience sentiment analysis for better engagement. </a:t>
            </a:r>
          </a:p>
          <a:p>
            <a:pPr marL="285750" indent="-285750">
              <a:buFont typeface="Arial" panose="020B0604020202020204" pitchFamily="34" charset="0"/>
              <a:buChar char="•"/>
            </a:pPr>
            <a:r>
              <a:rPr lang="en-IN" sz="2000" dirty="0"/>
              <a:t>Personalized marketing strategy recommendations. </a:t>
            </a:r>
          </a:p>
          <a:p>
            <a:pPr marL="285750" indent="-285750">
              <a:buFont typeface="Arial" panose="020B0604020202020204" pitchFamily="34" charset="0"/>
              <a:buChar char="•"/>
            </a:pPr>
            <a:r>
              <a:rPr lang="en-IN" sz="2000" dirty="0"/>
              <a:t>Fast response generation using </a:t>
            </a:r>
            <a:r>
              <a:rPr lang="en-IN" sz="2000" dirty="0" err="1"/>
              <a:t>Groq</a:t>
            </a:r>
            <a:r>
              <a:rPr lang="en-IN" sz="2000" dirty="0"/>
              <a:t> API. </a:t>
            </a:r>
          </a:p>
          <a:p>
            <a:pPr marL="285750" indent="-285750">
              <a:buFont typeface="Arial" panose="020B0604020202020204" pitchFamily="34" charset="0"/>
              <a:buChar char="•"/>
            </a:pPr>
            <a:r>
              <a:rPr lang="en-IN" sz="2000" dirty="0"/>
              <a:t>User-friendly single-page web interface. </a:t>
            </a:r>
          </a:p>
          <a:p>
            <a:pPr marL="285750" indent="-285750">
              <a:buFont typeface="Arial" panose="020B0604020202020204" pitchFamily="34" charset="0"/>
              <a:buChar char="•"/>
            </a:pPr>
            <a:r>
              <a:rPr lang="en-IN" sz="2000" dirty="0"/>
              <a:t>Scalable architecture using IBM Bob and IBM Granite. </a:t>
            </a:r>
          </a:p>
          <a:p>
            <a:endParaRPr lang="en-IN" sz="2000" dirty="0"/>
          </a:p>
          <a:p>
            <a:r>
              <a:rPr lang="en-IN" sz="2000" dirty="0"/>
              <a:t>This solution acts as an intelligent social media assistant capable of assisting creators, businesses, and marketers in making informed content decisions.</a:t>
            </a:r>
          </a:p>
          <a:p>
            <a:endParaRPr lang="en-IN" sz="1600" dirty="0"/>
          </a:p>
        </p:txBody>
      </p:sp>
    </p:spTree>
    <p:extLst>
      <p:ext uri="{BB962C8B-B14F-4D97-AF65-F5344CB8AC3E}">
        <p14:creationId xmlns:p14="http://schemas.microsoft.com/office/powerpoint/2010/main" val="232528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44062" y="1221715"/>
            <a:ext cx="10129214" cy="4592022"/>
          </a:xfrm>
          <a:prstGeom prst="rect">
            <a:avLst/>
          </a:prstGeom>
          <a:noFill/>
          <a:ln>
            <a:noFill/>
          </a:ln>
        </p:spPr>
        <p:txBody>
          <a:bodyPr spcFirstLastPara="1" wrap="square" lIns="0" tIns="0" rIns="0" bIns="0" anchor="t" anchorCtr="0">
            <a:noAutofit/>
          </a:bodyPr>
          <a:lstStyle/>
          <a:p>
            <a:pPr marL="457200" lvl="0" indent="-457200">
              <a:lnSpc>
                <a:spcPct val="162162"/>
              </a:lnSpc>
              <a:buClr>
                <a:srgbClr val="2B3541"/>
              </a:buClr>
              <a:buSzPts val="1850"/>
              <a:buAutoNum type="arabicPeriod"/>
            </a:pPr>
            <a:r>
              <a:rPr lang="en-US" sz="1800" dirty="0"/>
              <a:t>Integration with live social media APIs (Instagram, LinkedIn, X, Facebook) for real-time analytics and automated posting. </a:t>
            </a:r>
          </a:p>
          <a:p>
            <a:pPr marL="457200" lvl="0" indent="-457200">
              <a:lnSpc>
                <a:spcPct val="162162"/>
              </a:lnSpc>
              <a:buClr>
                <a:srgbClr val="2B3541"/>
              </a:buClr>
              <a:buSzPts val="1850"/>
              <a:buAutoNum type="arabicPeriod"/>
            </a:pPr>
            <a:r>
              <a:rPr lang="en-US" sz="1800" dirty="0"/>
              <a:t>AI-powered image and video generation for creating complete social media campaigns. </a:t>
            </a:r>
          </a:p>
          <a:p>
            <a:pPr marL="457200" lvl="0" indent="-457200">
              <a:lnSpc>
                <a:spcPct val="162162"/>
              </a:lnSpc>
              <a:buClr>
                <a:srgbClr val="2B3541"/>
              </a:buClr>
              <a:buSzPts val="1850"/>
              <a:buAutoNum type="arabicPeriod"/>
            </a:pPr>
            <a:r>
              <a:rPr lang="en-US" sz="1800" dirty="0"/>
              <a:t>Real-time competitor analysis and campaign performance tracking. </a:t>
            </a:r>
          </a:p>
          <a:p>
            <a:pPr marL="457200" lvl="0" indent="-457200">
              <a:lnSpc>
                <a:spcPct val="162162"/>
              </a:lnSpc>
              <a:buClr>
                <a:srgbClr val="2B3541"/>
              </a:buClr>
              <a:buSzPts val="1850"/>
              <a:buAutoNum type="arabicPeriod"/>
            </a:pPr>
            <a:r>
              <a:rPr lang="en-US" sz="1800" dirty="0"/>
              <a:t>Personalized content recommendations based on audience behavior and engagement history. </a:t>
            </a:r>
          </a:p>
          <a:p>
            <a:pPr marL="457200" lvl="0" indent="-457200">
              <a:lnSpc>
                <a:spcPct val="162162"/>
              </a:lnSpc>
              <a:buClr>
                <a:srgbClr val="2B3541"/>
              </a:buClr>
              <a:buSzPts val="1850"/>
              <a:buAutoNum type="arabicPeriod"/>
            </a:pPr>
            <a:r>
              <a:rPr lang="en-US" sz="1800" dirty="0"/>
              <a:t>Multi-language support for global content creation and marketing.</a:t>
            </a: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7AD8-A270-6E60-EE91-BD5863BC461F}"/>
              </a:ext>
            </a:extLst>
          </p:cNvPr>
          <p:cNvSpPr>
            <a:spLocks noGrp="1"/>
          </p:cNvSpPr>
          <p:nvPr>
            <p:ph type="title"/>
          </p:nvPr>
        </p:nvSpPr>
        <p:spPr/>
        <p:txBody>
          <a:bodyPr>
            <a:normAutofit/>
          </a:bodyPr>
          <a:lstStyle/>
          <a:p>
            <a:r>
              <a:rPr lang="en-IN" sz="2800" dirty="0">
                <a:latin typeface="+mj-lt"/>
              </a:rPr>
              <a:t>Git Hub Link</a:t>
            </a:r>
          </a:p>
        </p:txBody>
      </p:sp>
      <p:sp>
        <p:nvSpPr>
          <p:cNvPr id="3" name="Text Placeholder 2">
            <a:extLst>
              <a:ext uri="{FF2B5EF4-FFF2-40B4-BE49-F238E27FC236}">
                <a16:creationId xmlns:a16="http://schemas.microsoft.com/office/drawing/2014/main" id="{4D22DEB1-C325-60B3-66CC-8B0939022BE2}"/>
              </a:ext>
            </a:extLst>
          </p:cNvPr>
          <p:cNvSpPr>
            <a:spLocks noGrp="1"/>
          </p:cNvSpPr>
          <p:nvPr>
            <p:ph type="body" idx="1"/>
          </p:nvPr>
        </p:nvSpPr>
        <p:spPr/>
        <p:txBody>
          <a:bodyPr/>
          <a:lstStyle/>
          <a:p>
            <a:pPr marL="114300" indent="0">
              <a:buNone/>
            </a:pPr>
            <a:r>
              <a:rPr lang="en-IN" dirty="0"/>
              <a:t>github.com/</a:t>
            </a:r>
            <a:r>
              <a:rPr lang="en-IN" dirty="0" err="1"/>
              <a:t>janvigavit</a:t>
            </a:r>
            <a:r>
              <a:rPr lang="en-IN" dirty="0"/>
              <a:t>/social-media-agent</a:t>
            </a:r>
          </a:p>
        </p:txBody>
      </p:sp>
    </p:spTree>
    <p:extLst>
      <p:ext uri="{BB962C8B-B14F-4D97-AF65-F5344CB8AC3E}">
        <p14:creationId xmlns:p14="http://schemas.microsoft.com/office/powerpoint/2010/main" val="3168020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10" name="Picture 9">
            <a:extLst>
              <a:ext uri="{FF2B5EF4-FFF2-40B4-BE49-F238E27FC236}">
                <a16:creationId xmlns:a16="http://schemas.microsoft.com/office/drawing/2014/main" id="{1D85C6E5-0F6A-8D5A-8D97-B396A3D3B6F8}"/>
              </a:ext>
            </a:extLst>
          </p:cNvPr>
          <p:cNvPicPr>
            <a:picLocks noChangeAspect="1"/>
          </p:cNvPicPr>
          <p:nvPr/>
        </p:nvPicPr>
        <p:blipFill>
          <a:blip r:embed="rId2"/>
          <a:stretch>
            <a:fillRect/>
          </a:stretch>
        </p:blipFill>
        <p:spPr>
          <a:xfrm>
            <a:off x="1528572" y="753308"/>
            <a:ext cx="9134856" cy="597351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3" name="Picture 2">
            <a:extLst>
              <a:ext uri="{FF2B5EF4-FFF2-40B4-BE49-F238E27FC236}">
                <a16:creationId xmlns:a16="http://schemas.microsoft.com/office/drawing/2014/main" id="{F6155158-2072-85DC-FC27-1A3655ED37FB}"/>
              </a:ext>
            </a:extLst>
          </p:cNvPr>
          <p:cNvPicPr>
            <a:picLocks noChangeAspect="1"/>
          </p:cNvPicPr>
          <p:nvPr/>
        </p:nvPicPr>
        <p:blipFill>
          <a:blip r:embed="rId2"/>
          <a:stretch>
            <a:fillRect/>
          </a:stretch>
        </p:blipFill>
        <p:spPr>
          <a:xfrm>
            <a:off x="1671170" y="707922"/>
            <a:ext cx="8849660" cy="603184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C64A7-2DC7-2BBC-B4D8-FAD1852F34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F7DCDA-D151-B05A-6106-7E2DD36C0065}"/>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4" name="Picture 3">
            <a:extLst>
              <a:ext uri="{FF2B5EF4-FFF2-40B4-BE49-F238E27FC236}">
                <a16:creationId xmlns:a16="http://schemas.microsoft.com/office/drawing/2014/main" id="{7D623866-9A41-0647-FA73-EFED169A37E6}"/>
              </a:ext>
            </a:extLst>
          </p:cNvPr>
          <p:cNvPicPr>
            <a:picLocks noChangeAspect="1"/>
          </p:cNvPicPr>
          <p:nvPr/>
        </p:nvPicPr>
        <p:blipFill>
          <a:blip r:embed="rId2"/>
          <a:stretch>
            <a:fillRect/>
          </a:stretch>
        </p:blipFill>
        <p:spPr>
          <a:xfrm>
            <a:off x="1756155" y="1054297"/>
            <a:ext cx="9033081" cy="4749405"/>
          </a:xfrm>
          <a:prstGeom prst="rect">
            <a:avLst/>
          </a:prstGeom>
        </p:spPr>
      </p:pic>
    </p:spTree>
    <p:extLst>
      <p:ext uri="{BB962C8B-B14F-4D97-AF65-F5344CB8AC3E}">
        <p14:creationId xmlns:p14="http://schemas.microsoft.com/office/powerpoint/2010/main" val="2055119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88D70B-E345-776D-15C0-EAC6CC1EB945}"/>
              </a:ext>
            </a:extLst>
          </p:cNvPr>
          <p:cNvSpPr txBox="1"/>
          <p:nvPr/>
        </p:nvSpPr>
        <p:spPr>
          <a:xfrm>
            <a:off x="373626" y="182123"/>
            <a:ext cx="6096000" cy="461665"/>
          </a:xfrm>
          <a:prstGeom prst="rect">
            <a:avLst/>
          </a:prstGeom>
          <a:noFill/>
        </p:spPr>
        <p:txBody>
          <a:bodyPr wrap="square">
            <a:spAutoFit/>
          </a:bodyPr>
          <a:lstStyle/>
          <a:p>
            <a:r>
              <a:rPr lang="en-US" sz="2400" b="1" i="0" u="none" strike="noStrike" baseline="0" dirty="0">
                <a:solidFill>
                  <a:srgbClr val="000000"/>
                </a:solidFill>
                <a:latin typeface="Arial"/>
              </a:rPr>
              <a:t>Certificates Earned:</a:t>
            </a:r>
            <a:r>
              <a:rPr lang="en-US" sz="2400" b="0" i="0" dirty="0">
                <a:solidFill>
                  <a:srgbClr val="000000"/>
                </a:solidFill>
                <a:latin typeface="Arial"/>
                <a:ea typeface="Arial"/>
                <a:cs typeface="Arial"/>
              </a:rPr>
              <a:t>​</a:t>
            </a:r>
            <a:endParaRPr lang="en-US" sz="1400" dirty="0"/>
          </a:p>
        </p:txBody>
      </p:sp>
      <p:pic>
        <p:nvPicPr>
          <p:cNvPr id="5" name="Picture 4">
            <a:extLst>
              <a:ext uri="{FF2B5EF4-FFF2-40B4-BE49-F238E27FC236}">
                <a16:creationId xmlns:a16="http://schemas.microsoft.com/office/drawing/2014/main" id="{949836BA-BD03-763E-FC1C-0842679562B8}"/>
              </a:ext>
            </a:extLst>
          </p:cNvPr>
          <p:cNvPicPr>
            <a:picLocks noChangeAspect="1"/>
          </p:cNvPicPr>
          <p:nvPr/>
        </p:nvPicPr>
        <p:blipFill>
          <a:blip r:embed="rId2"/>
          <a:stretch>
            <a:fillRect/>
          </a:stretch>
        </p:blipFill>
        <p:spPr>
          <a:xfrm>
            <a:off x="1607574" y="1017526"/>
            <a:ext cx="8976852" cy="4822947"/>
          </a:xfrm>
          <a:prstGeom prst="rect">
            <a:avLst/>
          </a:prstGeom>
        </p:spPr>
      </p:pic>
    </p:spTree>
    <p:extLst>
      <p:ext uri="{BB962C8B-B14F-4D97-AF65-F5344CB8AC3E}">
        <p14:creationId xmlns:p14="http://schemas.microsoft.com/office/powerpoint/2010/main" val="3445409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857</Words>
  <Application>Microsoft Office PowerPoint</Application>
  <PresentationFormat>Widescreen</PresentationFormat>
  <Paragraphs>108</Paragraphs>
  <Slides>18</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Hub Link</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Janvi Gavit</cp:lastModifiedBy>
  <cp:revision>5</cp:revision>
  <dcterms:created xsi:type="dcterms:W3CDTF">2025-07-08T05:06:56Z</dcterms:created>
  <dcterms:modified xsi:type="dcterms:W3CDTF">2026-07-30T16:08:40Z</dcterms:modified>
</cp:coreProperties>
</file>